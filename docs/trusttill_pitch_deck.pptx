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ede0c8cd6a4253" /><Relationship Type="http://schemas.openxmlformats.org/officeDocument/2006/relationships/extended-properties" Target="/docProps/app.xml" Id="R548f129986e94c7e" /><Relationship Type="http://schemas.openxmlformats.org/officeDocument/2006/relationships/officeDocument" Target="/ppt/presentation.xml" Id="Rf8cefd816de648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6cbc8ae39644f5"/>
  </p:sldMasterIdLst>
  <p:notesMasterIdLst>
    <p:notesMasterId xmlns:r="http://schemas.openxmlformats.org/officeDocument/2006/relationships" r:id="R0fbf4d99c1604178"/>
  </p:notesMasterIdLst>
  <p:sldIdLst>
    <p:sldId xmlns:r="http://schemas.openxmlformats.org/officeDocument/2006/relationships" id="256" r:id="Rbb63b1ba0c5d4d14"/>
    <p:sldId xmlns:r="http://schemas.openxmlformats.org/officeDocument/2006/relationships" id="257" r:id="R11750dfe4a1f4759"/>
    <p:sldId xmlns:r="http://schemas.openxmlformats.org/officeDocument/2006/relationships" id="258" r:id="R0da88e946b5c4e30"/>
    <p:sldId xmlns:r="http://schemas.openxmlformats.org/officeDocument/2006/relationships" id="259" r:id="R43d1754c0ae84a0c"/>
    <p:sldId xmlns:r="http://schemas.openxmlformats.org/officeDocument/2006/relationships" id="260" r:id="R4028cc710c954942"/>
    <p:sldId xmlns:r="http://schemas.openxmlformats.org/officeDocument/2006/relationships" id="261" r:id="R6c31679f1f6842ed"/>
    <p:sldId xmlns:r="http://schemas.openxmlformats.org/officeDocument/2006/relationships" id="262" r:id="R4ef291b810fa45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f8bf1f0c014e4e" /><Relationship Type="http://schemas.openxmlformats.org/officeDocument/2006/relationships/slideMaster" Target="/ppt/slideMasters/slideMaster1.xml" Id="R006cbc8ae39644f5" /><Relationship Type="http://schemas.openxmlformats.org/officeDocument/2006/relationships/notesMaster" Target="/ppt/notesMasters/notesMaster1.xml" Id="R0fbf4d99c1604178" /><Relationship Type="http://schemas.openxmlformats.org/officeDocument/2006/relationships/presProps" Target="/ppt/presProps.xml" Id="R451c9d339fef4346" /><Relationship Type="http://schemas.openxmlformats.org/officeDocument/2006/relationships/tableStyles" Target="/ppt/tableStyles.xml" Id="R3c1670e22dc8469c" /><Relationship Type="http://schemas.openxmlformats.org/officeDocument/2006/relationships/slide" Target="/ppt/slides/slide1.xml" Id="Rbb63b1ba0c5d4d14" /><Relationship Type="http://schemas.openxmlformats.org/officeDocument/2006/relationships/slide" Target="/ppt/slides/slide2.xml" Id="R11750dfe4a1f4759" /><Relationship Type="http://schemas.openxmlformats.org/officeDocument/2006/relationships/slide" Target="/ppt/slides/slide3.xml" Id="R0da88e946b5c4e30" /><Relationship Type="http://schemas.openxmlformats.org/officeDocument/2006/relationships/slide" Target="/ppt/slides/slide4.xml" Id="R43d1754c0ae84a0c" /><Relationship Type="http://schemas.openxmlformats.org/officeDocument/2006/relationships/slide" Target="/ppt/slides/slide5.xml" Id="R4028cc710c954942" /><Relationship Type="http://schemas.openxmlformats.org/officeDocument/2006/relationships/slide" Target="/ppt/slides/slide6.xml" Id="R6c31679f1f6842ed" /><Relationship Type="http://schemas.openxmlformats.org/officeDocument/2006/relationships/slide" Target="/ppt/slides/slide7.xml" Id="R4ef291b810fa45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ad1de4d8bd4e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7d861f4f174986" /><Relationship Type="http://schemas.openxmlformats.org/officeDocument/2006/relationships/notesMaster" Target="/ppt/notesMasters/notesMaster1.xml" Id="R0b75f03855d149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d989fb95b84176" /><Relationship Type="http://schemas.openxmlformats.org/officeDocument/2006/relationships/notesMaster" Target="/ppt/notesMasters/notesMaster1.xml" Id="R934076a6c2ed4e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e2efab97554475" /><Relationship Type="http://schemas.openxmlformats.org/officeDocument/2006/relationships/notesMaster" Target="/ppt/notesMasters/notesMaster1.xml" Id="R28bc0223949747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ff0c0e6e114042" /><Relationship Type="http://schemas.openxmlformats.org/officeDocument/2006/relationships/notesMaster" Target="/ppt/notesMasters/notesMaster1.xml" Id="R70a673b664c64c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e860ed6784417c" /><Relationship Type="http://schemas.openxmlformats.org/officeDocument/2006/relationships/notesMaster" Target="/ppt/notesMasters/notesMaster1.xml" Id="R5aa4c2ee54c043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5b8f3aff6948be" /><Relationship Type="http://schemas.openxmlformats.org/officeDocument/2006/relationships/notesMaster" Target="/ppt/notesMasters/notesMaster1.xml" Id="R8524a6f9b96946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9a348f0a764809" /><Relationship Type="http://schemas.openxmlformats.org/officeDocument/2006/relationships/notesMaster" Target="/ppt/notesMasters/notesMaster1.xml" Id="R6355373a77d143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merchant problem, not the technology.</a:t>
            </a:r>
          </a:p>
          <a:p xmlns:a="http://schemas.openxmlformats.org/drawingml/2006/main">
            <a:r>
              <a:t>Position TrustTill as an evidence layer for Wema, not a bank replacement.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overclaim exclusion statistics.</a:t>
            </a:r>
          </a:p>
          <a:p xmlns:a="http://schemas.openxmlformats.org/drawingml/2006/main">
            <a:r>
              <a:t>Keep the problem practical: records are messy, so support and credit readiness become harder.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aha moment.</a:t>
            </a:r>
          </a:p>
          <a:p xmlns:a="http://schemas.openxmlformats.org/drawingml/2006/main">
            <a:r>
              <a:t>Say that the MVP starts with transparent rules, then can add AI parsing safely.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live HTML demo if possible.</a:t>
            </a:r>
          </a:p>
          <a:p xmlns:a="http://schemas.openxmlformats.org/drawingml/2006/main">
            <a:r>
              <a:t>If internet or laptop display fails, this screenshot still proves the core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sound like Wema's business value, not just social good.</a:t>
            </a:r>
          </a:p>
          <a:p xmlns:a="http://schemas.openxmlformats.org/drawingml/2006/main">
            <a:r>
              <a:t>Mention acquisition, deposits, support, and safer future credit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helps answer judge concerns about feasibility.</a:t>
            </a:r>
          </a:p>
          <a:p xmlns:a="http://schemas.openxmlformats.org/drawingml/2006/main">
            <a:r>
              <a:t>Stress that the first version is a workflow and evidence layer, not production underwriting.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a specific next step, not a vague thank you.</a:t>
            </a:r>
          </a:p>
          <a:p xmlns:a="http://schemas.openxmlformats.org/drawingml/2006/main">
            <a:r>
              <a:t>Ask for a pilot and support that Wema can plausibly provide after Hackaholics.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76021c04947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f67eb3b75f4f44" /><Relationship Type="http://schemas.openxmlformats.org/officeDocument/2006/relationships/slideLayout" Target="/ppt/slideLayouts/slideLayout1.xml" Id="R2572e887c69b45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72e887c69b45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d371ef4d64b64" /><Relationship Type="http://schemas.openxmlformats.org/officeDocument/2006/relationships/notesSlide" Target="/ppt/notesSlides/notesSlide1.xml" Id="R2d56586f2eae40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7514917c94f7b" /><Relationship Type="http://schemas.openxmlformats.org/officeDocument/2006/relationships/notesSlide" Target="/ppt/notesSlides/notesSlide2.xml" Id="R3816a413610a49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83f1615cb4e18" /><Relationship Type="http://schemas.openxmlformats.org/officeDocument/2006/relationships/notesSlide" Target="/ppt/notesSlides/notesSlide3.xml" Id="R434a5c6969414b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012e37b084784" /><Relationship Type="http://schemas.openxmlformats.org/officeDocument/2006/relationships/image" Target="/ppt/media/image.png" Id="R1b42e7a0622247cb" /><Relationship Type="http://schemas.openxmlformats.org/officeDocument/2006/relationships/notesSlide" Target="/ppt/notesSlides/notesSlide4.xml" Id="Rc2e9109d43c84a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bc07dbd284f6e" /><Relationship Type="http://schemas.openxmlformats.org/officeDocument/2006/relationships/notesSlide" Target="/ppt/notesSlides/notesSlide5.xml" Id="R829a5b64d18540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2fa01ae8e4b51" /><Relationship Type="http://schemas.openxmlformats.org/officeDocument/2006/relationships/notesSlide" Target="/ppt/notesSlides/notesSlide6.xml" Id="R4ed19604633c46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b74daa90640e0" /><Relationship Type="http://schemas.openxmlformats.org/officeDocument/2006/relationships/notesSlide" Target="/ppt/notesSlides/notesSlide7.xml" Id="R668e9fb9f2e24f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B4C6C6-2AD3-469F-AF49-D15886BB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628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03D48"/>
                </a:solidFill>
              </a:defRPr>
            </a:pPr>
            <a:r>
              <a:rPr sz="5400" b="1">
                <a:solidFill>
                  <a:srgbClr val="003D48"/>
                </a:solidFill>
              </a:rPr>
              <a:t>TrustTill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526C7-CDA5-4732-B0C5-8BE3FB0D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0"/>
                </a:solidFill>
              </a:defRPr>
            </a:pPr>
            <a:r>
              <a:rPr sz="2250" b="0">
                <a:solidFill>
                  <a:srgbClr val="101820"/>
                </a:solidFill>
              </a:rPr>
              <a:t>Making informal merchants bankable from the payment evidence they already have.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6E7DE-1E61-4F5F-AD11-4C318EB3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1809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C8D1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D48"/>
                </a:solidFill>
              </a:defRPr>
            </a:pPr>
            <a:r>
              <a:rPr sz="1200" b="1">
                <a:solidFill>
                  <a:srgbClr val="003D48"/>
                </a:solidFill>
              </a:rPr>
              <a:t>Hackaholics 7.0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73939-A157-471F-828C-84CA5E95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05150"/>
            <a:ext cx="2190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CEEF3"/>
          </a:solidFill>
          <a:ln xmlns:a="http://schemas.openxmlformats.org/drawingml/2006/main" w="9525">
            <a:solidFill>
              <a:srgbClr val="C8D1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E1A4C"/>
                </a:solidFill>
              </a:defRPr>
            </a:pPr>
            <a:r>
              <a:rPr sz="1200" b="1">
                <a:solidFill>
                  <a:srgbClr val="DE1A4C"/>
                </a:solidFill>
              </a:rPr>
              <a:t>Financial Inclusion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8EA15-9E99-430A-8317-47E4D6D1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85800"/>
            <a:ext cx="3238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48"/>
          </a:solidFill>
          <a:ln xmlns:a="http://schemas.openxmlformats.org/drawingml/2006/main" w="9525">
            <a:solidFill>
              <a:srgbClr val="003D4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EA3AF-4237-454E-9BB5-74159224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162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The 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6E10B-49E0-4F37-B8CD-4F9ADE56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228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 merchant should not need formal bookkeeping before their business activity can be understood by a bank.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FED70-62AB-4764-8424-48EC440D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86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7E5E6"/>
                </a:solidFill>
              </a:defRPr>
            </a:pPr>
            <a:r>
              <a:rPr sz="1350" b="0">
                <a:solidFill>
                  <a:srgbClr val="D7E5E6"/>
                </a:solidFill>
              </a:rPr>
              <a:t>Payment alerts, receipts, and sales notes are already useful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D8A88-1B06-4E43-98DD-0837D252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9666A"/>
                </a:solidFill>
              </a:defRPr>
            </a:pPr>
            <a:r>
              <a:rPr sz="1050" b="1">
                <a:solidFill>
                  <a:srgbClr val="59666A"/>
                </a:solidFill>
              </a:rPr>
              <a:t>TrustTill | Hackaholics 7.0 | Financial Inclusion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5A8B3-C91E-41C3-BBAD-5AE5F0E0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362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66A"/>
                </a:solidFill>
              </a:defRPr>
            </a:pPr>
            <a:r>
              <a:rPr sz="1050" b="1">
                <a:solidFill>
                  <a:srgbClr val="59666A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64857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E3AB66-F3E2-4C37-A0B7-C4E26CCA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</a:defRPr>
            </a:pPr>
            <a:r>
              <a:rPr sz="3300" b="1">
                <a:solidFill>
                  <a:srgbClr val="101820"/>
                </a:solidFill>
              </a:rPr>
              <a:t>Informal merchants are active, but their records are invisible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8CB2B-CEB8-4BAF-933F-BA5BC4A2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66A"/>
                </a:solidFill>
              </a:defRPr>
            </a:pPr>
            <a:r>
              <a:rPr sz="1650" b="0">
                <a:solidFill>
                  <a:srgbClr val="59666A"/>
                </a:solidFill>
              </a:rPr>
              <a:t>The money moves every day. The business evidence is scattered.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9FEC3-D100-44AA-9B63-ECD4C5FE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8D1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605F0-DF0E-432C-9242-5550D340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4"/>
          </a:solidFill>
          <a:ln xmlns:a="http://schemas.openxmlformats.org/drawingml/2006/main" w="9525">
            <a:solidFill>
              <a:srgbClr val="C8D1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4476C-3F7F-4E8B-B29F-3AE6B70A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3D48"/>
                </a:solidFill>
              </a:defRPr>
            </a:pPr>
            <a:r>
              <a:rPr sz="1800" b="1">
                <a:solidFill>
                  <a:srgbClr val="003D48"/>
                </a:solidFill>
              </a:rPr>
              <a:t>What merchants have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D9EE8-78DB-42A9-B4C8-8423FCA9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SMS alerts</a:t>
            </a:r>
          </a:p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WhatsApp orders</a:t>
            </a:r>
          </a:p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Cash notes</a:t>
            </a:r>
          </a:p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POS receipts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63001-B48D-40E3-B55F-F76FE4E2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C8D1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7F1C7-4F49-49F6-B07B-5EDE810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3D48"/>
                </a:solidFill>
              </a:defRPr>
            </a:pPr>
            <a:r>
              <a:rPr sz="1800" b="1">
                <a:solidFill>
                  <a:srgbClr val="003D48"/>
                </a:solidFill>
              </a:rPr>
              <a:t>What banks need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E5A93-B444-48B9-BC71-7795BA18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5280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Clean cashflow</a:t>
            </a:r>
          </a:p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Customer patterns</a:t>
            </a:r>
          </a:p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Dispute signals</a:t>
            </a:r>
          </a:p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Record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82AE2-58B5-4EB7-BACC-5CE7C73C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4"/>
          </a:solidFill>
          <a:ln xmlns:a="http://schemas.openxmlformats.org/drawingml/2006/main" w="9525">
            <a:solidFill>
              <a:srgbClr val="C8D1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D0543-9F39-4C7B-A586-BF4FA0A8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3D48"/>
                </a:solidFill>
              </a:defRPr>
            </a:pPr>
            <a:r>
              <a:rPr sz="1800" b="1">
                <a:solidFill>
                  <a:srgbClr val="003D48"/>
                </a:solidFill>
              </a:rPr>
              <a:t>What gets lost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85E4A-2930-41C8-99CC-85B5E386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Context</a:t>
            </a:r>
          </a:p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Consistency</a:t>
            </a:r>
          </a:p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Trust</a:t>
            </a:r>
          </a:p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A path to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831E3-8A3B-4707-BFFE-40899BF9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E1A4C"/>
                </a:solidFill>
              </a:defRPr>
            </a:pPr>
            <a:r>
              <a:rPr sz="1800" b="1">
                <a:solidFill>
                  <a:srgbClr val="DE1A4C"/>
                </a:solidFill>
              </a:rPr>
              <a:t>TrustTill bridges this gap by structuring evidence merchants already generate.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CD71F-C97D-4EB8-8ABF-42ADA000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9666A"/>
                </a:solidFill>
              </a:defRPr>
            </a:pPr>
            <a:r>
              <a:rPr sz="1050" b="1">
                <a:solidFill>
                  <a:srgbClr val="59666A"/>
                </a:solidFill>
              </a:rPr>
              <a:t>TrustTill | Hackaholics 7.0 | Financial Inclusion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2ACFA-312F-4286-B9DC-94F04AAD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362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66A"/>
                </a:solidFill>
              </a:defRPr>
            </a:pPr>
            <a:r>
              <a:rPr sz="1050" b="1">
                <a:solidFill>
                  <a:srgbClr val="59666A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61998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0DD53D-F275-446B-B697-DF72383A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</a:defRPr>
            </a:pPr>
            <a:r>
              <a:rPr sz="3300" b="1">
                <a:solidFill>
                  <a:srgbClr val="101820"/>
                </a:solidFill>
              </a:rPr>
              <a:t>The insight is simple: evidence already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4C97F-ECDD-4CB5-96B4-C5A47EB1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66A"/>
                </a:solidFill>
              </a:defRPr>
            </a:pPr>
            <a:r>
              <a:rPr sz="1650" b="0">
                <a:solidFill>
                  <a:srgbClr val="59666A"/>
                </a:solidFill>
              </a:rPr>
              <a:t>TrustTill turns messy traces into a bank-readable merchant profile.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05ABA-1A97-44CC-A5F7-48485C38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8D1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DA8D7-D096-471F-9940-3D57F310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266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C8D1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146B3-B599-461D-92FC-3DF7DF00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E1A4C"/>
                </a:solidFill>
              </a:defRPr>
            </a:pPr>
            <a:r>
              <a:rPr sz="1800" b="1">
                <a:solidFill>
                  <a:srgbClr val="DE1A4C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E9316-4F49-4B1C-BDAC-6FCC8D6A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Payment alert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6C23F-1D73-472C-B7B5-C359E94D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66A"/>
                </a:solidFill>
              </a:defRPr>
            </a:pPr>
            <a:r>
              <a:rPr sz="1350" b="0">
                <a:solidFill>
                  <a:srgbClr val="59666A"/>
                </a:solidFill>
              </a:rPr>
              <a:t>CR 12,500 from ADEWALE SUNDAY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6B4D1-0F2A-48BE-9119-5307E75B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242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3D4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44676-2A60-4C16-8DE8-81335E19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67000"/>
            <a:ext cx="2266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4"/>
          </a:solidFill>
          <a:ln xmlns:a="http://schemas.openxmlformats.org/drawingml/2006/main" w="9525">
            <a:solidFill>
              <a:srgbClr val="C8D1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6C938-7F0C-40F4-B9BB-14B79943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575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E1A4C"/>
                </a:solidFill>
              </a:defRPr>
            </a:pPr>
            <a:r>
              <a:rPr sz="1800" b="1">
                <a:solidFill>
                  <a:srgbClr val="DE1A4C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5F838-DE7E-412E-9A2D-AF2BD51F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575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Structured record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A0174-0E56-485C-BC61-7916E55A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481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66A"/>
                </a:solidFill>
              </a:defRPr>
            </a:pPr>
            <a:r>
              <a:rPr sz="1350" b="0">
                <a:solidFill>
                  <a:srgbClr val="59666A"/>
                </a:solidFill>
              </a:rPr>
              <a:t>amount, customer, memo,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B2E33-295E-4F2C-BFC9-8E00789F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242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3D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ED8A6-0914-41E3-8583-828308A8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2266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4"/>
          </a:solidFill>
          <a:ln xmlns:a="http://schemas.openxmlformats.org/drawingml/2006/main" w="9525">
            <a:solidFill>
              <a:srgbClr val="C8D1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0F3DD-4432-4EC2-817B-0932CD00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E1A4C"/>
                </a:solidFill>
              </a:defRPr>
            </a:pPr>
            <a:r>
              <a:rPr sz="1800" b="1">
                <a:solidFill>
                  <a:srgbClr val="DE1A4C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48A51-4A6D-4113-8717-A392F997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575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Risk 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E8FEA6-D67E-4551-B8EE-E07E744A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66A"/>
                </a:solidFill>
              </a:defRPr>
            </a:pPr>
            <a:r>
              <a:rPr sz="1350" b="0">
                <a:solidFill>
                  <a:srgbClr val="59666A"/>
                </a:solidFill>
              </a:rPr>
              <a:t>duplicate, reversal, unusual amount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70DE9-538A-40D1-9962-774C5B4A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3D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10502-A45C-4CD5-82F3-9BE6B96E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2266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4"/>
          </a:solidFill>
          <a:ln xmlns:a="http://schemas.openxmlformats.org/drawingml/2006/main" w="9525">
            <a:solidFill>
              <a:srgbClr val="C8D1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2EB293-3A43-445E-A1FA-5FDA9083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E1A4C"/>
                </a:solidFill>
              </a:defRPr>
            </a:pPr>
            <a:r>
              <a:rPr sz="1800" b="1">
                <a:solidFill>
                  <a:srgbClr val="DE1A4C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20E05A-5179-4BF6-B116-8F7B02DE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Readiness profile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69BC1-3D20-4BB9-88D3-5796A1D8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481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66A"/>
                </a:solidFill>
              </a:defRPr>
            </a:pPr>
            <a:r>
              <a:rPr sz="1350" b="0">
                <a:solidFill>
                  <a:srgbClr val="59666A"/>
                </a:solidFill>
              </a:rPr>
              <a:t>cashflow, consistency, record quality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D58CB-5ADC-46D2-9808-083AF969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3D48"/>
                </a:solidFill>
              </a:defRPr>
            </a:pPr>
            <a:r>
              <a:rPr sz="2100" b="1">
                <a:solidFill>
                  <a:srgbClr val="003D48"/>
                </a:solidFill>
              </a:rPr>
              <a:t>The product does not ask merchants to change behavior first. It makes current behavior count.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8C7D4B-59B8-4849-87AD-3D10055E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9666A"/>
                </a:solidFill>
              </a:defRPr>
            </a:pPr>
            <a:r>
              <a:rPr sz="1050" b="1">
                <a:solidFill>
                  <a:srgbClr val="59666A"/>
                </a:solidFill>
              </a:rPr>
              <a:t>TrustTill | Hackaholics 7.0 | Financial Inclusion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2FBD26-808D-4335-A49C-6C094268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362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66A"/>
                </a:solidFill>
              </a:defRPr>
            </a:pPr>
            <a:r>
              <a:rPr sz="1050" b="1">
                <a:solidFill>
                  <a:srgbClr val="59666A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23591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FCD742-CEC4-4181-9E6C-A0885843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</a:defRPr>
            </a:pPr>
            <a:r>
              <a:rPr sz="3300" b="1">
                <a:solidFill>
                  <a:srgbClr val="101820"/>
                </a:solidFill>
              </a:rPr>
              <a:t>The prototype makes the merchant journey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56E20-D5FF-46B4-A06D-D64153E6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66A"/>
                </a:solidFill>
              </a:defRPr>
            </a:pPr>
            <a:r>
              <a:rPr sz="1650" b="0">
                <a:solidFill>
                  <a:srgbClr val="59666A"/>
                </a:solidFill>
              </a:rPr>
              <a:t>The demo shows profile, parser, risk review, readiness, and Wema Desk in one 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A2C83-44D0-44C5-AB27-FBA81AEE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8D1D2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2e7a0622247cb"/>
          <a:srcRect xmlns:a="http://schemas.openxmlformats.org/drawingml/2006/main" l="0" t="33719" r="0" b="33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324100"/>
            <a:ext cx="723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5E637-FFB5-4C6B-9F8A-5187D00E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24100"/>
            <a:ext cx="3105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48"/>
          </a:solidFill>
          <a:ln xmlns:a="http://schemas.openxmlformats.org/drawingml/2006/main" w="9525">
            <a:solidFill>
              <a:srgbClr val="003D4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19FC3-F98C-440E-B4E5-F443C7FA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28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Live demo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99B13-A223-4BD2-82F0-3FA05F33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19450"/>
            <a:ext cx="2324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Paste a messy alert.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TrustTill extracts the amount, customer, memo, and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The risk engine updates review count and readiness.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A2BFF-C5B5-4665-A574-47726002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9666A"/>
                </a:solidFill>
              </a:defRPr>
            </a:pPr>
            <a:r>
              <a:rPr sz="1050" b="1">
                <a:solidFill>
                  <a:srgbClr val="59666A"/>
                </a:solidFill>
              </a:rPr>
              <a:t>TrustTill | Hackaholics 7.0 | Financial Inclusion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49ACC-D642-4EA9-8D52-8937082C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362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66A"/>
                </a:solidFill>
              </a:defRPr>
            </a:pPr>
            <a:r>
              <a:rPr sz="1050" b="1">
                <a:solidFill>
                  <a:srgbClr val="59666A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881805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00FDF6-C19C-4FB4-99B4-F270C309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</a:defRPr>
            </a:pPr>
            <a:r>
              <a:rPr sz="3300" b="1">
                <a:solidFill>
                  <a:srgbClr val="101820"/>
                </a:solidFill>
              </a:rPr>
              <a:t>Wema gets a practical merchant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BAD16-92E7-4E4B-B2FC-6FB85D7F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66A"/>
                </a:solidFill>
              </a:defRPr>
            </a:pPr>
            <a:r>
              <a:rPr sz="1650" b="0">
                <a:solidFill>
                  <a:srgbClr val="59666A"/>
                </a:solidFill>
              </a:rPr>
              <a:t>The same evidence that helps a merchant also helps Wema decide what support comes next.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648F9-BBDF-4988-97A4-C9D794FB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8D1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B4446-8181-465D-9A50-6F64BD89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E1A4C"/>
                </a:solidFill>
              </a:defRPr>
            </a:pPr>
            <a:r>
              <a:rPr sz="2100" b="1">
                <a:solidFill>
                  <a:srgbClr val="DE1A4C"/>
                </a:solidFill>
              </a:rPr>
              <a:t>Onboard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CD04C-68BD-48DA-A7AF-0FF67304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66975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8D1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1EC15-5F70-4A11-8E7A-6C67981F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0"/>
                </a:solidFill>
              </a:defRPr>
            </a:pPr>
            <a:r>
              <a:rPr sz="1875" b="0">
                <a:solidFill>
                  <a:srgbClr val="101820"/>
                </a:solidFill>
              </a:rPr>
              <a:t>Invite promising merchants into ALAT or SME banking.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1486B-D93C-4F2F-BDD1-EC998E1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3D48"/>
                </a:solidFill>
              </a:defRPr>
            </a:pPr>
            <a:r>
              <a:rPr sz="2100" b="1">
                <a:solidFill>
                  <a:srgbClr val="003D48"/>
                </a:solidFill>
              </a:rPr>
              <a:t>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F8B19-A1F1-4BD2-9EE7-222ABBA1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67075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8D1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EE192-3D33-4D29-BE7D-F012992F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861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0"/>
                </a:solidFill>
              </a:defRPr>
            </a:pPr>
            <a:r>
              <a:rPr sz="1875" b="0">
                <a:solidFill>
                  <a:srgbClr val="101820"/>
                </a:solidFill>
              </a:rPr>
              <a:t>Recommend savings discipline and cleaner business records.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4D643-4E79-4609-8119-FF45B342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3D48"/>
                </a:solidFill>
              </a:defRPr>
            </a:pPr>
            <a:r>
              <a:rPr sz="2100" b="1">
                <a:solidFill>
                  <a:srgbClr val="003D48"/>
                </a:solidFill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87433-CD29-4FAD-B345-5278DAA3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67175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8D1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2A92A-13E0-4D1C-B382-8EBB9345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862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0"/>
                </a:solidFill>
              </a:defRPr>
            </a:pPr>
            <a:r>
              <a:rPr sz="1875" b="0">
                <a:solidFill>
                  <a:srgbClr val="101820"/>
                </a:solidFill>
              </a:rPr>
              <a:t>Use transparent risk flags before any credit conversation.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A6759-AE81-4A8F-9C22-DFD9CC20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3D48"/>
                </a:solidFill>
              </a:defRPr>
            </a:pPr>
            <a:r>
              <a:rPr sz="2100" b="1">
                <a:solidFill>
                  <a:srgbClr val="003D48"/>
                </a:solidFill>
              </a:rPr>
              <a:t>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9F5F5-C336-4C6C-97D8-8A16C2AC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67275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8D1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21E65-4D58-4FFF-BD7B-E97E9D51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863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0"/>
                </a:solidFill>
              </a:defRPr>
            </a:pPr>
            <a:r>
              <a:rPr sz="1875" b="0">
                <a:solidFill>
                  <a:srgbClr val="101820"/>
                </a:solidFill>
              </a:rPr>
              <a:t>Start with campus and market merchants where evidence is frequent.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8AF35-E2A1-4198-BAA0-6A2EDD27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00300"/>
            <a:ext cx="16192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C8D1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B8450-FC57-4D40-887E-54490033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19450"/>
            <a:ext cx="1162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E1A4C"/>
                </a:solidFill>
              </a:defRPr>
            </a:pPr>
            <a:r>
              <a:rPr sz="1650" b="1">
                <a:solidFill>
                  <a:srgbClr val="DE1A4C"/>
                </a:solidFill>
              </a:rPr>
              <a:t>Evidence</a:t>
            </a:r>
          </a:p>
          <a:p xmlns:a="http://schemas.openxmlformats.org/drawingml/2006/main">
            <a:pPr algn="ctr">
              <a:defRPr sz="1650" b="1">
                <a:solidFill>
                  <a:srgbClr val="DE1A4C"/>
                </a:solidFill>
              </a:defRPr>
            </a:pPr>
            <a:r>
              <a:rPr sz="1650" b="1">
                <a:solidFill>
                  <a:srgbClr val="DE1A4C"/>
                </a:solidFill>
              </a:rPr>
              <a:t>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08AC7-5EE8-4D65-AE27-C5EC78AF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9666A"/>
                </a:solidFill>
              </a:defRPr>
            </a:pPr>
            <a:r>
              <a:rPr sz="1050" b="1">
                <a:solidFill>
                  <a:srgbClr val="59666A"/>
                </a:solidFill>
              </a:rPr>
              <a:t>TrustTill | Hackaholics 7.0 | Financial Inclusion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4B3DC-A44D-472C-8A17-1B597B79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362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66A"/>
                </a:solidFill>
              </a:defRPr>
            </a:pPr>
            <a:r>
              <a:rPr sz="1050" b="1">
                <a:solidFill>
                  <a:srgbClr val="59666A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852413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AFE6F9-ABF1-4A6B-83CA-ADF3A86E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952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1820"/>
                </a:solidFill>
              </a:defRPr>
            </a:pPr>
            <a:r>
              <a:rPr sz="3300" b="1">
                <a:solidFill>
                  <a:srgbClr val="101820"/>
                </a:solidFill>
              </a:rPr>
              <a:t>The MVP is intentionally narrow and demoable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5FD66-1F0F-4170-9D76-BDC4F472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66A"/>
                </a:solidFill>
              </a:defRPr>
            </a:pPr>
            <a:r>
              <a:rPr sz="1650" b="0">
                <a:solidFill>
                  <a:srgbClr val="59666A"/>
                </a:solidFill>
              </a:rPr>
              <a:t>A narrow build wins because judges can see it working.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8B655-7734-4BEF-973E-45E9A7C0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8D1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6BB3F-DA9B-4391-A1EE-EEBB8A36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714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4"/>
          </a:solidFill>
          <a:ln xmlns:a="http://schemas.openxmlformats.org/drawingml/2006/main" w="9525">
            <a:solidFill>
              <a:srgbClr val="C8D1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81B8C-CB2E-4D17-8629-C22617CA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3D48"/>
                </a:solidFill>
              </a:defRPr>
            </a:pPr>
            <a:r>
              <a:rPr sz="2250" b="1">
                <a:solidFill>
                  <a:srgbClr val="003D48"/>
                </a:solidFill>
              </a:rPr>
              <a:t>Must 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B921E-667F-4D6E-BF87-199ACBE2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Merchant profile</a:t>
            </a:r>
          </a:p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Payment alert parser</a:t>
            </a:r>
          </a:p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Risk review</a:t>
            </a:r>
          </a:p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Readiness score</a:t>
            </a:r>
          </a:p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Wema Desk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E2C8E-AD7E-4A7F-A685-402B2683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57450"/>
            <a:ext cx="3714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C8D1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64A81-E862-4362-AA40-2C48A849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241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E1A4C"/>
                </a:solidFill>
              </a:defRPr>
            </a:pPr>
            <a:r>
              <a:rPr sz="2250" b="1">
                <a:solidFill>
                  <a:srgbClr val="DE1A4C"/>
                </a:solidFill>
              </a:rPr>
              <a:t>Avoid for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B50A6-0CCC-4B7C-AC57-7C7483E4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33750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Full core banking</a:t>
            </a:r>
          </a:p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Production credit scoring</a:t>
            </a:r>
          </a:p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Regulatory claims</a:t>
            </a:r>
          </a:p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Generic chatbot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10927-43AC-46C6-9F57-13474123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3D48"/>
                </a:solidFill>
              </a:defRPr>
            </a:pPr>
            <a:r>
              <a:rPr sz="2550" b="1">
                <a:solidFill>
                  <a:srgbClr val="003D48"/>
                </a:solidFill>
              </a:rPr>
              <a:t>Scope discipline is the hack.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36D1B-C0D1-42B3-8112-97C886EE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9666A"/>
                </a:solidFill>
              </a:defRPr>
            </a:pPr>
            <a:r>
              <a:rPr sz="1050" b="1">
                <a:solidFill>
                  <a:srgbClr val="59666A"/>
                </a:solidFill>
              </a:rPr>
              <a:t>TrustTill | Hackaholics 7.0 | Financial Inclusion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A7099-7E11-4421-9841-57431BAF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362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66A"/>
                </a:solidFill>
              </a:defRPr>
            </a:pPr>
            <a:r>
              <a:rPr sz="1050" b="1">
                <a:solidFill>
                  <a:srgbClr val="59666A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639019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AA49E8-9D02-45AA-B371-ABFFA7C1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1820"/>
                </a:solidFill>
              </a:defRPr>
            </a:pPr>
            <a:r>
              <a:rPr sz="3750" b="1">
                <a:solidFill>
                  <a:srgbClr val="101820"/>
                </a:solidFill>
              </a:rPr>
              <a:t>The ask is a small, credible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0FE52-AA28-48A4-BC37-9E2906AC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9666A"/>
                </a:solidFill>
              </a:defRPr>
            </a:pPr>
            <a:r>
              <a:rPr sz="2100" b="0">
                <a:solidFill>
                  <a:srgbClr val="59666A"/>
                </a:solidFill>
              </a:rPr>
              <a:t>TrustTill needs mentorship, API guidance, and access to a small group of campus or market merchants.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2BD86-EBE3-49F7-A942-D23B6826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4"/>
          </a:solidFill>
          <a:ln xmlns:a="http://schemas.openxmlformats.org/drawingml/2006/main" w="9525">
            <a:solidFill>
              <a:srgbClr val="C8D1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FB599-9D04-4F28-8758-EDBE44E9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3D48"/>
                </a:solidFill>
              </a:defRPr>
            </a:pPr>
            <a:r>
              <a:rPr sz="2250" b="1">
                <a:solidFill>
                  <a:srgbClr val="003D48"/>
                </a:solidFill>
              </a:rPr>
              <a:t>Mentorship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10117-BBAD-43D3-8AC2-C14ABAE2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0"/>
                </a:solidFill>
              </a:defRPr>
            </a:pPr>
            <a:r>
              <a:rPr sz="1500" b="0">
                <a:solidFill>
                  <a:srgbClr val="101820"/>
                </a:solidFill>
              </a:rPr>
              <a:t>Product, compliance, and financial inclusion guidance.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B3B4E-6D96-4C69-9DB7-B81B6AC7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8130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9525">
            <a:solidFill>
              <a:srgbClr val="C8D1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474B0-9ED2-48C6-9769-416C2F72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48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3D48"/>
                </a:solidFill>
              </a:defRPr>
            </a:pPr>
            <a:r>
              <a:rPr sz="2250" b="1">
                <a:solidFill>
                  <a:srgbClr val="003D48"/>
                </a:solidFill>
              </a:rPr>
              <a:t>Sandbox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57B1F-BFCA-4DF0-B048-7776B9E4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81400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0"/>
                </a:solidFill>
              </a:defRPr>
            </a:pPr>
            <a:r>
              <a:rPr sz="1500" b="0">
                <a:solidFill>
                  <a:srgbClr val="101820"/>
                </a:solidFill>
              </a:rPr>
              <a:t>Wema or ALAT API direction for realistic integration.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9B0E8-2FD6-4A94-8D9C-213A2482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105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4"/>
          </a:solidFill>
          <a:ln xmlns:a="http://schemas.openxmlformats.org/drawingml/2006/main" w="9525">
            <a:solidFill>
              <a:srgbClr val="C8D1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CF94D-AB4F-4988-845A-6F05E0F6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3D48"/>
                </a:solidFill>
              </a:defRPr>
            </a:pPr>
            <a:r>
              <a:rPr sz="2250" b="1">
                <a:solidFill>
                  <a:srgbClr val="003D48"/>
                </a:solidFill>
              </a:rPr>
              <a:t>Pilot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CFEB0-4CE1-4409-A501-F5F2AD07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1820"/>
                </a:solidFill>
              </a:defRPr>
            </a:pPr>
            <a:r>
              <a:rPr sz="1500" b="0">
                <a:solidFill>
                  <a:srgbClr val="101820"/>
                </a:solidFill>
              </a:rPr>
              <a:t>Campus and market merchants with repeat payment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975BC-221F-4001-B942-E8CBF84D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E1A4C"/>
                </a:solidFill>
              </a:defRPr>
            </a:pPr>
            <a:r>
              <a:rPr sz="3150" b="1">
                <a:solidFill>
                  <a:srgbClr val="DE1A4C"/>
                </a:solidFill>
              </a:rPr>
              <a:t>Make existing merchant evidence count.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21E97-4C27-4342-8352-D3E32122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9666A"/>
                </a:solidFill>
              </a:defRPr>
            </a:pPr>
            <a:r>
              <a:rPr sz="1050" b="1">
                <a:solidFill>
                  <a:srgbClr val="59666A"/>
                </a:solidFill>
              </a:rPr>
              <a:t>TrustTill | Hackaholics 7.0 | Financial Inclusion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1E6DB-A93A-4F08-ABDE-D8FD67CC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362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9666A"/>
                </a:solidFill>
              </a:defRPr>
            </a:pPr>
            <a:r>
              <a:rPr sz="1050" b="1">
                <a:solidFill>
                  <a:srgbClr val="59666A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19842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2026-07-07T14:36:29.0920000Z</dcterms:created>
  <dcterms:modified xsi:type="dcterms:W3CDTF">2026-07-07T14:36:29.0920000Z</dcterms:modified>
</coreProperties>
</file>