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3038d8e64e4cc4" /><Relationship Type="http://schemas.openxmlformats.org/officeDocument/2006/relationships/extended-properties" Target="/docProps/app.xml" Id="R6fbec196214f4351" /><Relationship Type="http://schemas.openxmlformats.org/officeDocument/2006/relationships/officeDocument" Target="/ppt/presentation.xml" Id="R318964f0051046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b86eb576554cd4"/>
  </p:sldMasterIdLst>
  <p:notesMasterIdLst>
    <p:notesMasterId xmlns:r="http://schemas.openxmlformats.org/officeDocument/2006/relationships" r:id="Rf4cc9c35e5ed4c3b"/>
  </p:notesMasterIdLst>
  <p:sldIdLst>
    <p:sldId xmlns:r="http://schemas.openxmlformats.org/officeDocument/2006/relationships" id="256" r:id="Rca89b5faf8fd4a21"/>
    <p:sldId xmlns:r="http://schemas.openxmlformats.org/officeDocument/2006/relationships" id="257" r:id="R345b60d41dfd4d8e"/>
    <p:sldId xmlns:r="http://schemas.openxmlformats.org/officeDocument/2006/relationships" id="258" r:id="R88975ac117c042d3"/>
    <p:sldId xmlns:r="http://schemas.openxmlformats.org/officeDocument/2006/relationships" id="259" r:id="Rda2201bbdb4346ac"/>
    <p:sldId xmlns:r="http://schemas.openxmlformats.org/officeDocument/2006/relationships" id="260" r:id="R4dfbcefbadb54076"/>
    <p:sldId xmlns:r="http://schemas.openxmlformats.org/officeDocument/2006/relationships" id="261" r:id="R956b87b0e8014a5d"/>
    <p:sldId xmlns:r="http://schemas.openxmlformats.org/officeDocument/2006/relationships" id="262" r:id="Rfd5cf8914fd34b2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6621d74a0049d9" /><Relationship Type="http://schemas.openxmlformats.org/officeDocument/2006/relationships/slideMaster" Target="/ppt/slideMasters/slideMaster1.xml" Id="R86b86eb576554cd4" /><Relationship Type="http://schemas.openxmlformats.org/officeDocument/2006/relationships/notesMaster" Target="/ppt/notesMasters/notesMaster1.xml" Id="Rf4cc9c35e5ed4c3b" /><Relationship Type="http://schemas.openxmlformats.org/officeDocument/2006/relationships/presProps" Target="/ppt/presProps.xml" Id="R2b449c7dfc634bd3" /><Relationship Type="http://schemas.openxmlformats.org/officeDocument/2006/relationships/tableStyles" Target="/ppt/tableStyles.xml" Id="R2e37893dc3a24c9f" /><Relationship Type="http://schemas.openxmlformats.org/officeDocument/2006/relationships/slide" Target="/ppt/slides/slide1.xml" Id="Rca89b5faf8fd4a21" /><Relationship Type="http://schemas.openxmlformats.org/officeDocument/2006/relationships/slide" Target="/ppt/slides/slide2.xml" Id="R345b60d41dfd4d8e" /><Relationship Type="http://schemas.openxmlformats.org/officeDocument/2006/relationships/slide" Target="/ppt/slides/slide3.xml" Id="R88975ac117c042d3" /><Relationship Type="http://schemas.openxmlformats.org/officeDocument/2006/relationships/slide" Target="/ppt/slides/slide4.xml" Id="Rda2201bbdb4346ac" /><Relationship Type="http://schemas.openxmlformats.org/officeDocument/2006/relationships/slide" Target="/ppt/slides/slide5.xml" Id="R4dfbcefbadb54076" /><Relationship Type="http://schemas.openxmlformats.org/officeDocument/2006/relationships/slide" Target="/ppt/slides/slide6.xml" Id="R956b87b0e8014a5d" /><Relationship Type="http://schemas.openxmlformats.org/officeDocument/2006/relationships/slide" Target="/ppt/slides/slide7.xml" Id="Rfd5cf8914fd34b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9a5046904a45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28d601df0f4ff3" /><Relationship Type="http://schemas.openxmlformats.org/officeDocument/2006/relationships/notesMaster" Target="/ppt/notesMasters/notesMaster1.xml" Id="Rd3c2f76a968c4d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d02b76290e4529" /><Relationship Type="http://schemas.openxmlformats.org/officeDocument/2006/relationships/notesMaster" Target="/ppt/notesMasters/notesMaster1.xml" Id="R3cc946a6e44b4e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55a1c9fc8a4acf" /><Relationship Type="http://schemas.openxmlformats.org/officeDocument/2006/relationships/notesMaster" Target="/ppt/notesMasters/notesMaster1.xml" Id="R9bae246bc66f41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1eb7cd971f40b5" /><Relationship Type="http://schemas.openxmlformats.org/officeDocument/2006/relationships/notesMaster" Target="/ppt/notesMasters/notesMaster1.xml" Id="R02331cdf47ac4c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eabcfcbfb44cb3" /><Relationship Type="http://schemas.openxmlformats.org/officeDocument/2006/relationships/notesMaster" Target="/ppt/notesMasters/notesMaster1.xml" Id="R52a5d11945ed4f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f953e233544e16" /><Relationship Type="http://schemas.openxmlformats.org/officeDocument/2006/relationships/notesMaster" Target="/ppt/notesMasters/notesMaster1.xml" Id="R38ef07590cd245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17a58da7934fe3" /><Relationship Type="http://schemas.openxmlformats.org/officeDocument/2006/relationships/notesMaster" Target="/ppt/notesMasters/notesMaster1.xml" Id="R829d49912afe47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in plain language. TrustTill is an evidence layer, not a loan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problem specific. Do not say merchants need generic loans. Say Wema needs cleaner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answers the 'how is the AI possible?' question. The AI does not decide truth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Switch to the live demo if possible. This slide is the fallback proof.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this sponsor-specific. Wema gets acquisition, record quality, and safer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establish implementation credibility.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on a concrete pilot request. Keep it actionable and credible.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0eccab065549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3b11a5471c438b" /><Relationship Type="http://schemas.openxmlformats.org/officeDocument/2006/relationships/slideLayout" Target="/ppt/slideLayouts/slideLayout1.xml" Id="R8fcd6633e66741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cd6633e66741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016b965b64f4e" /><Relationship Type="http://schemas.openxmlformats.org/officeDocument/2006/relationships/notesSlide" Target="/ppt/notesSlides/notesSlide1.xml" Id="R090212a446bd46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48aa3510f4213" /><Relationship Type="http://schemas.openxmlformats.org/officeDocument/2006/relationships/notesSlide" Target="/ppt/notesSlides/notesSlide2.xml" Id="R275afcbefe0641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e07a600b24fe9" /><Relationship Type="http://schemas.openxmlformats.org/officeDocument/2006/relationships/notesSlide" Target="/ppt/notesSlides/notesSlide3.xml" Id="R64f98b18cf0d4d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183ef94504732" /><Relationship Type="http://schemas.openxmlformats.org/officeDocument/2006/relationships/image" Target="/ppt/media/image.png" Id="R36682cbaa6b04666" /><Relationship Type="http://schemas.openxmlformats.org/officeDocument/2006/relationships/notesSlide" Target="/ppt/notesSlides/notesSlide4.xml" Id="R5251a6db1ddf45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3529c9cbb4f0b" /><Relationship Type="http://schemas.openxmlformats.org/officeDocument/2006/relationships/notesSlide" Target="/ppt/notesSlides/notesSlide5.xml" Id="R16bf3ce547664c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a1b714a6e42d0" /><Relationship Type="http://schemas.openxmlformats.org/officeDocument/2006/relationships/notesSlide" Target="/ppt/notesSlides/notesSlide6.xml" Id="R159df893a0bd4e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647618cd5423d" /><Relationship Type="http://schemas.openxmlformats.org/officeDocument/2006/relationships/notesSlide" Target="/ppt/notesSlides/notesSlide7.xml" Id="R77d583c98bf445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1B73A2-84F1-4A47-99E7-27ED4689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647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003D48"/>
                </a:solidFill>
              </a:defRPr>
            </a:pPr>
            <a:r>
              <a:rPr sz="6000" b="1">
                <a:solidFill>
                  <a:srgbClr val="003D48"/>
                </a:solidFill>
              </a:rPr>
              <a:t>TrustTill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CD2F3D-ADD2-4117-AED4-AE412867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48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01820"/>
                </a:solidFill>
              </a:defRPr>
            </a:pPr>
            <a:r>
              <a:rPr sz="2550" b="0">
                <a:solidFill>
                  <a:srgbClr val="101820"/>
                </a:solidFill>
              </a:rPr>
              <a:t>Making offline merchants bank-readable from the sales evidence they already have.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C952E-E787-48E1-B460-2997D4B7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18097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5EA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3D48"/>
                </a:solidFill>
              </a:defRPr>
            </a:pPr>
            <a:r>
              <a:rPr sz="1200" b="1">
                <a:solidFill>
                  <a:srgbClr val="003D48"/>
                </a:solidFill>
              </a:rPr>
              <a:t>Hackaholics 7.0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5DD4C-76F6-4FFD-AAF6-4185EDD9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43250"/>
            <a:ext cx="21907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EF3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4144F"/>
                </a:solidFill>
              </a:defRPr>
            </a:pPr>
            <a:r>
              <a:rPr sz="1200" b="1">
                <a:solidFill>
                  <a:srgbClr val="E4144F"/>
                </a:solidFill>
              </a:rPr>
              <a:t>Financial Inclusion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35189-E6C1-455D-BFA6-BEDC14CA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20955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3D48"/>
                </a:solidFill>
              </a:defRPr>
            </a:pPr>
            <a:r>
              <a:rPr sz="1200" b="1">
                <a:solidFill>
                  <a:srgbClr val="003D48"/>
                </a:solidFill>
              </a:rPr>
              <a:t>AI evidence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E4093-6C81-46E7-AE3F-BB68324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42950"/>
            <a:ext cx="31432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D48"/>
          </a:solidFill>
          <a:ln xmlns:a="http://schemas.openxmlformats.org/drawingml/2006/main" w="9525">
            <a:solidFill>
              <a:srgbClr val="003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A6190-1A4E-4BF2-B9CF-D4895BC8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2192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Core claim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10F58-D554-49DF-8F54-CEF18EF5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431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Informal merchants become visible when their evidence is structured.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9A602-ECAE-4E80-AB5F-8D7421D0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9570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FAF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56104-4EED-47D8-9B73-388D7609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03860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CECED"/>
                </a:solidFill>
              </a:defRPr>
            </a:pPr>
            <a:r>
              <a:rPr sz="1500" b="0">
                <a:solidFill>
                  <a:srgbClr val="DCECED"/>
                </a:solidFill>
              </a:rPr>
              <a:t>TrustTill turns scattered proof into a reviewable trail.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9EBBA-9514-4D58-9306-E2244D61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8D5E27-7090-4BEE-B1B6-C8EB6AFB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088388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909726-312D-4F46-A208-C561D84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1820"/>
                </a:solidFill>
              </a:defRPr>
            </a:pPr>
            <a:r>
              <a:rPr sz="3300" b="1">
                <a:solidFill>
                  <a:srgbClr val="101820"/>
                </a:solidFill>
              </a:rPr>
              <a:t>Messy evidence makes real merchants look invisible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1DB8DF-A2F5-41CE-8061-DDDF0B13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267"/>
                </a:solidFill>
              </a:defRPr>
            </a:pPr>
            <a:r>
              <a:rPr sz="1800" b="0">
                <a:solidFill>
                  <a:srgbClr val="536267"/>
                </a:solidFill>
              </a:rPr>
              <a:t>A cash-heavy merchant can be active every day and still look unbankable.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0E32D-FAF2-4AF1-AFE2-5598FF9C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DE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F10DC-9CB9-4A57-AA21-9E5C6002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6216B-6743-482B-B3AD-527D5094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93EFA-0E66-40D5-AA63-52978D4D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4767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33733-5D90-40A8-B330-CE9D15AC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3D48"/>
                </a:solidFill>
              </a:defRPr>
            </a:pPr>
            <a:r>
              <a:rPr sz="2250" b="1">
                <a:solidFill>
                  <a:srgbClr val="003D48"/>
                </a:solidFill>
              </a:rPr>
              <a:t>Merchant reality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58862-373D-425E-82F2-CD693F06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304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Cash sales</a:t>
            </a:r>
          </a:p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Transfer alerts</a:t>
            </a:r>
          </a:p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Paper receipts</a:t>
            </a:r>
          </a:p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WhatsApp notes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44AD6-AC0E-470A-BF5A-B7017D81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5285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414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BD83E-3BB9-4637-B76F-A0282FE1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09950"/>
            <a:ext cx="342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E4144F"/>
                </a:solidFill>
              </a:defRPr>
            </a:pPr>
            <a:r>
              <a:rPr sz="3150" b="1">
                <a:solidFill>
                  <a:srgbClr val="E4144F"/>
                </a:solidFill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C008B-E990-4C65-9E51-EA0E2B9C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81250"/>
            <a:ext cx="400050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5EA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2F0D4-8EEE-4865-831C-5954675A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3D48"/>
                </a:solidFill>
              </a:defRPr>
            </a:pPr>
            <a:r>
              <a:rPr sz="2250" b="1">
                <a:solidFill>
                  <a:srgbClr val="003D48"/>
                </a:solidFill>
              </a:rPr>
              <a:t>Bank-readable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57B1F6-2196-4D63-8D5D-7AC96A71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90900"/>
            <a:ext cx="304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Cashflow pattern</a:t>
            </a:r>
          </a:p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Evidence quality</a:t>
            </a:r>
          </a:p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Risk flags</a:t>
            </a:r>
          </a:p>
          <a:p xmlns:a="http://schemas.openxmlformats.org/drawingml/2006/main">
            <a:pPr>
              <a:defRPr sz="2100" b="1">
                <a:solidFill>
                  <a:srgbClr val="101820"/>
                </a:solidFill>
              </a:defRPr>
            </a:pPr>
            <a:r>
              <a:rPr sz="2100" b="1">
                <a:solidFill>
                  <a:srgbClr val="101820"/>
                </a:solidFill>
              </a:rPr>
              <a:t>Next best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78659D-1A9B-4909-9EA3-028056F9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4144F"/>
                </a:solidFill>
              </a:defRPr>
            </a:pPr>
            <a:r>
              <a:rPr sz="2250" b="1">
                <a:solidFill>
                  <a:srgbClr val="E4144F"/>
                </a:solidFill>
              </a:rPr>
              <a:t>TrustTill translates the first list into the second.</a:t>
            </a:r>
          </a:p>
        </p:txBody>
      </p:sp>
    </p:spTree>
    <p:extLst>
      <p:ext uri="{BB962C8B-B14F-4D97-AF65-F5344CB8AC3E}">
        <p14:creationId xmlns:p14="http://schemas.microsoft.com/office/powerpoint/2010/main" val="15514666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7A7B4E-6674-4F6F-8355-10578768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1820"/>
                </a:solidFill>
              </a:defRPr>
            </a:pPr>
            <a:r>
              <a:rPr sz="3300" b="1">
                <a:solidFill>
                  <a:srgbClr val="101820"/>
                </a:solidFill>
              </a:rPr>
              <a:t>The AI does extraction and explanation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1464C-A8D5-4FE6-8A9F-77944DC3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267"/>
                </a:solidFill>
              </a:defRPr>
            </a:pPr>
            <a:r>
              <a:rPr sz="1800" b="0">
                <a:solidFill>
                  <a:srgbClr val="536267"/>
                </a:solidFill>
              </a:rPr>
              <a:t>The verification stays transparent so a human reviewer can trust the output.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8D574-F796-4F54-99CA-C920173E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DE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775C0-376E-44EA-8A6B-C74039B6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C062D-7C62-433C-B73E-CBB8FC85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A6F1D-F754-415E-AC73-91CB43A0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DB4C4-9FC1-4B1D-9EE0-389014AB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144F"/>
                </a:solidFill>
              </a:defRPr>
            </a:pPr>
            <a:r>
              <a:rPr sz="2100" b="1">
                <a:solidFill>
                  <a:srgbClr val="E4144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4F940-AE64-4635-BD3B-5A3ABD6A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Extract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F350F9-C1AE-4741-B2E3-17A3580B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333750"/>
            <a:ext cx="1257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Amount, date, customer, channel, memo.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52988C-709E-4F1E-97FE-76AD8502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9080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5EA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34993-F0EC-4F46-93CA-F01AEFB6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003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144F"/>
                </a:solidFill>
              </a:defRPr>
            </a:pPr>
            <a:r>
              <a:rPr sz="2100" b="1">
                <a:solidFill>
                  <a:srgbClr val="E4144F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6CCE93-156C-492B-A4DC-2EC4BF61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19400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Link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A4343-8443-40B4-86F2-8B11DBCE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33750"/>
            <a:ext cx="1257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Match sales to receipts, deposits, and notes.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C7986-916F-4043-AAAB-B718630B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9080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B8C80E-74D0-431F-8318-02ED08DE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003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144F"/>
                </a:solidFill>
              </a:defRPr>
            </a:pPr>
            <a:r>
              <a:rPr sz="2100" b="1">
                <a:solidFill>
                  <a:srgbClr val="E4144F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9AE17-C09C-48C6-B7A4-8595D7E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19400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Score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310376-7788-4102-B487-DB113328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333750"/>
            <a:ext cx="1257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Separate verified, supported, manual, and flagged entries.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45870-349E-4A45-B10D-E743E8A7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38A95-F759-4E58-A2C3-4326EC00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003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4144F"/>
                </a:solidFill>
              </a:defRPr>
            </a:pPr>
            <a:r>
              <a:rPr sz="2100" b="1">
                <a:solidFill>
                  <a:srgbClr val="E4144F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0F3F30-83A9-4AA7-BEEF-FA161444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19400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Explain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7A694-0CF4-4F8D-A641-EB54DD91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33750"/>
            <a:ext cx="1257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Show why each record is trusted or needs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98D7EC-855A-47F0-8DA4-D65D5647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895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3D48"/>
                </a:solidFill>
              </a:defRPr>
            </a:pPr>
            <a:r>
              <a:rPr sz="2400" b="1">
                <a:solidFill>
                  <a:srgbClr val="003D48"/>
                </a:solidFill>
              </a:rPr>
              <a:t>AI organizes the mess. Rules keep the trust logic explainable.</a:t>
            </a:r>
          </a:p>
        </p:txBody>
      </p:sp>
    </p:spTree>
    <p:extLst>
      <p:ext uri="{BB962C8B-B14F-4D97-AF65-F5344CB8AC3E}">
        <p14:creationId xmlns:p14="http://schemas.microsoft.com/office/powerpoint/2010/main" val="18310930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3FDF6A-28BB-41A9-8DF8-9A41228E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1820"/>
                </a:solidFill>
              </a:defRPr>
            </a:pPr>
            <a:r>
              <a:rPr sz="3300" b="1">
                <a:solidFill>
                  <a:srgbClr val="101820"/>
                </a:solidFill>
              </a:rPr>
              <a:t>The prototype already shows the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F849B-BEE4-41BD-8B84-95E008B2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267"/>
                </a:solidFill>
              </a:defRPr>
            </a:pPr>
            <a:r>
              <a:rPr sz="1800" b="0">
                <a:solidFill>
                  <a:srgbClr val="536267"/>
                </a:solidFill>
              </a:rPr>
              <a:t>A judge can see messy evidence become a profile, score, and review queue.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93A66-49A0-4068-8095-1E364FDD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DE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CECF4-79B8-4432-A1DA-16D57D2F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125AA-BCA7-40F6-B222-AC5D641E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82cbaa6b04666"/>
          <a:srcRect xmlns:a="http://schemas.openxmlformats.org/drawingml/2006/main" l="0" t="25053" r="0" b="25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" y="2266950"/>
            <a:ext cx="6572250" cy="3543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D4990-1498-4DF8-AE42-55961750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314325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D48"/>
          </a:solidFill>
          <a:ln xmlns:a="http://schemas.openxmlformats.org/drawingml/2006/main" w="9525">
            <a:solidFill>
              <a:srgbClr val="003D4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45B87-E663-4473-8E5A-32BBE970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289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Demo loop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2CEF0-87D3-4D44-BE07-54D97E85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2286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Paste evidence</a:t>
            </a:r>
          </a:p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Parse record</a:t>
            </a:r>
          </a:p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Review flags</a:t>
            </a:r>
          </a:p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Open Wema Desk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D2657-545C-4811-9624-E70EA437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340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CECED"/>
                </a:solidFill>
              </a:defRPr>
            </a:pPr>
            <a:r>
              <a:rPr sz="1425" b="0">
                <a:solidFill>
                  <a:srgbClr val="DCECED"/>
                </a:solidFill>
              </a:rPr>
              <a:t>Static now. API-first next.</a:t>
            </a:r>
          </a:p>
        </p:txBody>
      </p:sp>
    </p:spTree>
    <p:extLst>
      <p:ext uri="{BB962C8B-B14F-4D97-AF65-F5344CB8AC3E}">
        <p14:creationId xmlns:p14="http://schemas.microsoft.com/office/powerpoint/2010/main" val="14063443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95FAEA-50FF-45CF-B2BE-71852A0B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1820"/>
                </a:solidFill>
              </a:defRPr>
            </a:pPr>
            <a:r>
              <a:rPr sz="3300" b="1">
                <a:solidFill>
                  <a:srgbClr val="101820"/>
                </a:solidFill>
              </a:rPr>
              <a:t>Wema gets a practical inclusion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ABD2B-D66A-40A0-A731-4F7FA408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267"/>
                </a:solidFill>
              </a:defRPr>
            </a:pPr>
            <a:r>
              <a:rPr sz="1800" b="0">
                <a:solidFill>
                  <a:srgbClr val="536267"/>
                </a:solidFill>
              </a:rPr>
              <a:t>TrustTill connects social impact to a bankable SME acquisition path.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EA71A-57FA-453F-B0FD-C661BD9E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DE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E468A-464F-4850-86E3-1F119E32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051D6-F465-4B72-98DA-17408ED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385B6E-FDE0-4458-9B6B-B5A6220A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30289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5B556-C11F-43A0-B447-AEE24B1D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3D48"/>
                </a:solidFill>
              </a:defRPr>
            </a:pPr>
            <a:r>
              <a:rPr sz="2550" b="1">
                <a:solidFill>
                  <a:srgbClr val="003D48"/>
                </a:solidFill>
              </a:rPr>
              <a:t>Acquire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75235-F84A-4985-8E39-37F79808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2266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Identify active merchants who are ready for ALAT or SME banking.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BAFB9-7FE8-4108-A0DB-1EC2BD9E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28900"/>
            <a:ext cx="30289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5EA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71AC56-3B48-4F98-84B2-59E5B9DC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3D48"/>
                </a:solidFill>
              </a:defRPr>
            </a:pPr>
            <a:r>
              <a:rPr sz="2550" b="1">
                <a:solidFill>
                  <a:srgbClr val="003D48"/>
                </a:solidFill>
              </a:rPr>
              <a:t>Improve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A8FDD2-D0C7-4EE1-9254-F7A575D4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76650"/>
            <a:ext cx="2266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Help merchants build cleaner records without becoming accountants.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3520D1-B8DE-407F-9E77-8F1FA406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28900"/>
            <a:ext cx="30289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CEC295-372D-4F38-827B-5593973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908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144F"/>
                </a:solidFill>
              </a:defRPr>
            </a:pPr>
            <a:r>
              <a:rPr sz="2550" b="1">
                <a:solidFill>
                  <a:srgbClr val="E4144F"/>
                </a:solidFill>
              </a:rPr>
              <a:t>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E6679-FF63-4DE9-AE3B-E319CBBC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76650"/>
            <a:ext cx="2266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Use risk flags before any credit or support decision.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C50F1A-708D-4F9A-A9A4-83C6ACA5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3D48"/>
                </a:solidFill>
              </a:defRPr>
            </a:pPr>
            <a:r>
              <a:rPr sz="2250" b="1">
                <a:solidFill>
                  <a:srgbClr val="003D48"/>
                </a:solidFill>
              </a:rPr>
              <a:t>The first win is not automated lending. It is better merchant visibility.</a:t>
            </a:r>
          </a:p>
        </p:txBody>
      </p:sp>
    </p:spTree>
    <p:extLst>
      <p:ext uri="{BB962C8B-B14F-4D97-AF65-F5344CB8AC3E}">
        <p14:creationId xmlns:p14="http://schemas.microsoft.com/office/powerpoint/2010/main" val="10828751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806FD0-403B-48F0-B745-E97F8814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28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1820"/>
                </a:solidFill>
              </a:defRPr>
            </a:pPr>
            <a:r>
              <a:rPr sz="3300" b="1">
                <a:solidFill>
                  <a:srgbClr val="101820"/>
                </a:solidFill>
              </a:rPr>
              <a:t>The backend is an evidence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43F16-C00E-49F6-AE2A-D73B07C6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267"/>
                </a:solidFill>
              </a:defRPr>
            </a:pPr>
            <a:r>
              <a:rPr sz="1800" b="0">
                <a:solidFill>
                  <a:srgbClr val="536267"/>
                </a:solidFill>
              </a:rPr>
              <a:t>The build is realistic: ingest, normalize, reconcile, score, expose.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9C5E0-8F8A-4448-9C25-A2B90E8B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DE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5AB13-D088-478E-A4B0-484533D8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365C1-755C-453A-8776-D45EB756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9B463-7FD5-4A24-9DFA-893B2631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676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5EA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4E311-74B7-4700-8E9C-88F1E940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831DF-C08B-4818-B605-88A5AC80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1314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cash, alerts,</a:t>
            </a:r>
          </a:p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receipts, POS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35953F-9CE0-4FAF-B900-91AEA52D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29565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4144F"/>
                </a:solidFill>
              </a:defRPr>
            </a:pPr>
            <a:r>
              <a:rPr sz="2700" b="1">
                <a:solidFill>
                  <a:srgbClr val="E4144F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3C1C6-6CAB-4062-B5E8-B5C69C30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724150"/>
            <a:ext cx="1676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420ADB-10FB-4D89-AF3D-42BDDFD4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099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Ingestion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CE7723-0092-4B7E-B65E-2CE8F6FA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05200"/>
            <a:ext cx="1314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EvidenceItem</a:t>
            </a:r>
          </a:p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AB66EF-1C5E-4534-95C8-4D1E4E05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9565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4144F"/>
                </a:solidFill>
              </a:defRPr>
            </a:pPr>
            <a:r>
              <a:rPr sz="2700" b="1">
                <a:solidFill>
                  <a:srgbClr val="E4144F"/>
                </a:solidFill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2447F8-2E8C-4A49-853D-C886AC56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24150"/>
            <a:ext cx="1676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C2D2D-5F53-409F-9D4A-DFF10249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099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Extraction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87A5D1-269E-4758-9F4C-CC4EED36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05200"/>
            <a:ext cx="1314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AI parser +</a:t>
            </a:r>
          </a:p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45F0AD-7A2B-49E2-9725-1177B379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9565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4144F"/>
                </a:solidFill>
              </a:defRPr>
            </a:pPr>
            <a:r>
              <a:rPr sz="2700" b="1">
                <a:solidFill>
                  <a:srgbClr val="E4144F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53A35-EE93-4F4B-9E12-91319C08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24150"/>
            <a:ext cx="1676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B5AF46-2D96-438C-B2BA-2A6B2C8B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099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Matching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8E9B63-A065-4814-86F0-E15C7B0C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05200"/>
            <a:ext cx="1314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SaleEvent</a:t>
            </a:r>
          </a:p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ledger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E44A22-C0A9-416E-8494-694AFADE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9565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4144F"/>
                </a:solidFill>
              </a:defRPr>
            </a:pPr>
            <a:r>
              <a:rPr sz="2700" b="1">
                <a:solidFill>
                  <a:srgbClr val="E4144F"/>
                </a:solidFill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E99AC-39B3-4E14-94E3-9D0E0328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24150"/>
            <a:ext cx="16764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8A5776-C5AD-4239-B4F9-AA679F2F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099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3D48"/>
                </a:solidFill>
              </a:defRPr>
            </a:pPr>
            <a:r>
              <a:rPr sz="1800" b="1">
                <a:solidFill>
                  <a:srgbClr val="003D48"/>
                </a:solidFill>
              </a:rPr>
              <a:t>Profile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DB05C6-A857-4C94-88CB-145C8FC4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05200"/>
            <a:ext cx="1314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Wema-ready</a:t>
            </a:r>
          </a:p>
          <a:p xmlns:a="http://schemas.openxmlformats.org/drawingml/2006/main">
            <a:pPr algn="ctr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review API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91E01C-F66C-49FB-B2CF-EDEF8B66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10150"/>
            <a:ext cx="904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B107B6-A43B-456C-A5C3-F229D2B4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006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1820"/>
                </a:solidFill>
              </a:defRPr>
            </a:pPr>
            <a:r>
              <a:rPr sz="1650" b="1">
                <a:solidFill>
                  <a:srgbClr val="101820"/>
                </a:solidFill>
              </a:rPr>
              <a:t>This is why backend experience matters: the hard part is reliable data flow, not a flashy chatbot.</a:t>
            </a:r>
          </a:p>
        </p:txBody>
      </p:sp>
    </p:spTree>
    <p:extLst>
      <p:ext uri="{BB962C8B-B14F-4D97-AF65-F5344CB8AC3E}">
        <p14:creationId xmlns:p14="http://schemas.microsoft.com/office/powerpoint/2010/main" val="19597375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DD863E-34AE-4A20-9B26-56D3AD05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1820"/>
                </a:solidFill>
              </a:defRPr>
            </a:pPr>
            <a:r>
              <a:rPr sz="4200" b="1">
                <a:solidFill>
                  <a:srgbClr val="101820"/>
                </a:solidFill>
              </a:rPr>
              <a:t>The ask is a 30-day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7532C-288D-44F1-964D-2F50FBB3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6267"/>
                </a:solidFill>
              </a:defRPr>
            </a:pPr>
            <a:r>
              <a:rPr sz="2025" b="0">
                <a:solidFill>
                  <a:srgbClr val="536267"/>
                </a:solidFill>
              </a:rPr>
              <a:t>Start small, learn fast, and prove whether merchant evidence quality improves.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18F04-4959-45A7-AB6C-E084A0BE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DE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885F9-C9D4-4D99-95B3-D14281DE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9718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B19C2-97B9-42FB-BC14-1267FE9D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99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3D48"/>
                </a:solidFill>
              </a:defRPr>
            </a:pPr>
            <a:r>
              <a:rPr sz="2250" b="1">
                <a:solidFill>
                  <a:srgbClr val="003D48"/>
                </a:solidFill>
              </a:rPr>
              <a:t>Pilot group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D9273-B9E0-439C-99A8-C81C9AA0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2114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01820"/>
                </a:solidFill>
              </a:defRPr>
            </a:pPr>
            <a:r>
              <a:rPr sz="1650" b="0">
                <a:solidFill>
                  <a:srgbClr val="101820"/>
                </a:solidFill>
              </a:rPr>
              <a:t>20 to 50 campus or market merchants.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E00F0-94A5-4312-8A66-A3FC801B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29718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5EA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A2954-1C1D-4087-84C6-8585B67B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099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3D48"/>
                </a:solidFill>
              </a:defRPr>
            </a:pPr>
            <a:r>
              <a:rPr sz="2250" b="1">
                <a:solidFill>
                  <a:srgbClr val="003D48"/>
                </a:solidFill>
              </a:rPr>
              <a:t>Support needed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26EA0F-8A83-47A5-9F8A-ED5A843C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14750"/>
            <a:ext cx="2190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Mentorship, API guidance, and compliance feedback.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7AC09-6C88-45E2-9021-8DD1CF59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67000"/>
            <a:ext cx="29718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6"/>
          </a:solidFill>
          <a:ln xmlns:a="http://schemas.openxmlformats.org/drawingml/2006/main" w="9525">
            <a:solidFill>
              <a:srgbClr val="D8DE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5006C4-02C1-4056-BA63-AB75AC96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99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3D48"/>
                </a:solidFill>
              </a:defRPr>
            </a:pPr>
            <a:r>
              <a:rPr sz="2250" b="1">
                <a:solidFill>
                  <a:srgbClr val="003D48"/>
                </a:solidFill>
              </a:rPr>
              <a:t>Success metric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7C0D3-3595-43EB-BB15-FDAFB6B4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14750"/>
            <a:ext cx="2190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More verified records and clearer Wema review decisions.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777BA-C38F-46C4-B9A4-697A54B7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E4144F"/>
                </a:solidFill>
              </a:defRPr>
            </a:pPr>
            <a:r>
              <a:rPr sz="3150" b="1">
                <a:solidFill>
                  <a:srgbClr val="E4144F"/>
                </a:solidFill>
              </a:rPr>
              <a:t>Make existing merchant evidence count.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1B519-8C87-4984-970E-7532CB5B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TrustTill | Hackaholics 7.0 | Financial Inclusion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BB6356-8379-46F0-94D7-81C37860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67"/>
                </a:solidFill>
              </a:defRPr>
            </a:pPr>
            <a:r>
              <a:rPr sz="1050" b="1">
                <a:solidFill>
                  <a:srgbClr val="536267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519496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2026-07-07T19:59:02.3700000Z</dcterms:created>
  <dcterms:modified xsi:type="dcterms:W3CDTF">2026-07-07T19:59:02.3710000Z</dcterms:modified>
</coreProperties>
</file>